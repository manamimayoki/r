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9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R Programming</a:t>
            </a:r>
          </a:p>
          <a:p>
            <a:pPr>
              <a:spcBef>
                <a:spcPts val="1200"/>
              </a:spcBef>
              <a:defRPr sz="2200">
                <a:solidFill>
                  <a:srgbClr val="CBD5E1"/>
                </a:solidFill>
                <a:latin typeface="Aptos"/>
              </a:defRPr>
            </a:pPr>
            <a:r>
              <a:t>Day 02 — From Data Structures to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FDBFE"/>
                </a:solidFill>
                <a:latin typeface="Aptos"/>
              </a:defRPr>
            </a:pPr>
            <a:r>
              <a:t>Logical operators • Lists • Matrices • Data frames • Flow control •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By the end of this session, you should be able 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Use logical and comparison operators to build conditions.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Create, access, modify, combine, and filter lists.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Construct matrices and understand indexing, dimensions, and matrix operations.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Create and manipulate data frames—the core tabular structure used in R.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Control program flow with if, else if, else, for, while, and repeat.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Write reusable functions with arguments, return values, and local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Today's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practical progression from operators → data structures → program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01  Logical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Build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847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02 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0428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Store mixed objects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64592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8470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03  Matrices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0428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2D homogeneous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520439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21607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04  Data frames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78807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Tabular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5204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520439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3721607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05  Flow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178807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Control 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5204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520439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3721607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06 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78807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Reusable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Logical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Logical operators combine or negate logical values (TRUE / FALSE).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0020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Operator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&amp;&amp;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AND — first element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&amp;&amp;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||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OR — first element only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|| FALSE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&amp;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AND — element-wise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c(TRUE,FALSE) &amp; c(TRUE,TRUE)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|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OR — element-wise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c(TRUE,FALSE) | c(FALSE,FALSE)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FALSE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!TRUE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166360"/>
            <a:ext cx="493776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3292" y="5264524"/>
            <a:ext cx="45354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rPr dirty="0"/>
              <a:t>x &lt;- 75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rPr dirty="0"/>
              <a:t>x &gt;= 50 &amp;&amp; x &lt;= 100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rPr dirty="0"/>
              <a:t># 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5166360"/>
            <a:ext cx="557784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0697" y="5257800"/>
            <a:ext cx="5175503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rPr dirty="0"/>
              <a:t>score &lt;- c(45, 72, 88)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rPr dirty="0"/>
              <a:t>score &gt;= 50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rPr dirty="0"/>
              <a:t># FALSE TRUE </a:t>
            </a:r>
            <a:r>
              <a:rPr dirty="0" err="1"/>
              <a:t>TRUE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Conditions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Comparison operators produce logical values; logical operators combine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486400" cy="429768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5084064" cy="3730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age &lt;- 21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score &lt;- 82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age &gt;= 18 &amp;&amp; score &gt;= 80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TRUE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score &lt; 50 || age &lt; 18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4754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64008" cy="16002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80136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Think in two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58568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1. Ask a question with a comparison.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2. Combine questions with logical operators.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429000"/>
            <a:ext cx="4754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342900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363016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Common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087368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x &gt;= lower &amp; x &lt;= upper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Useful for filtering observations inside a range.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525780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37960" y="5257800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545896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705857"/>
            <a:ext cx="43434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Write one condition that checks whether x is between 10 and 20 (inclusive).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Lists in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list can contain elements of different types, including vectors, strings, numbers, and other lists.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66928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5266944" cy="39136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first_list &lt;- list("apple", "banana", "cherry")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first_list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first_list[[1]]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"apple"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first_list[[1]] &lt;- "orange"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first_list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0020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60020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1801368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58568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A list is a flexible container. Its elements do not have to share the same data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24612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324612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3447288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[ ] vs [[ ]]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04487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x[1]  → returns a sub-list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x[[1]] → returns the element itself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489204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20840" y="4892040"/>
            <a:ext cx="6400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5093207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Named 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550407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student &lt;- list(name="Asha", age=21, marks=c(80,85,90))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List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Create, inspect, add, remove, and combine list elements.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54480"/>
          <a:ext cx="107899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 code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length(first_list)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Number of elements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Check membership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"apple" %in% first_list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TRUE / FALSE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append(first_list, "mango")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Append an element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Remove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first_list[-1]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Drop first element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first_list[2:3]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Select a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Combine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c(list1, list2)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Join lists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623560"/>
            <a:ext cx="10789920" cy="658368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5609845"/>
            <a:ext cx="10387584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list1 &lt;- list("</a:t>
            </a:r>
            <a:r>
              <a:rPr dirty="0" err="1"/>
              <a:t>a","b</a:t>
            </a:r>
            <a:r>
              <a:rPr dirty="0"/>
              <a:t>")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list2 &lt;- list(1,2)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list3 &lt;- c(list1, list2)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Matrix in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matrix is a two-dimensional, homogeneous data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577840" cy="402336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82495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1"/>
            <a:ext cx="5175503" cy="3456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 &lt;- matrix(1:6, nrow = 2, ncol = 3)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     [,1] [,2] [,3]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[1,]    1    3    5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[2,]    2    4  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645920"/>
            <a:ext cx="64008" cy="13258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84708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Important 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04288"/>
            <a:ext cx="43434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All elements of a matrix must have a compatible data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20040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3200400"/>
            <a:ext cx="6400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340156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858768"/>
            <a:ext cx="43434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dim(m) → c(2, 3)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nrow(m) → 2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ncol(m) →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983480"/>
            <a:ext cx="4754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4983480"/>
            <a:ext cx="6400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518464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By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461836"/>
            <a:ext cx="43434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matrix(1:6, </a:t>
            </a:r>
            <a:r>
              <a:rPr dirty="0" err="1"/>
              <a:t>nrow</a:t>
            </a:r>
            <a:r>
              <a:rPr dirty="0"/>
              <a:t>=2, </a:t>
            </a:r>
            <a:r>
              <a:rPr dirty="0" err="1"/>
              <a:t>byrow</a:t>
            </a:r>
            <a:r>
              <a:rPr dirty="0"/>
              <a:t>=TRUE)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Fills the matrix row-by-row.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Matrix indexing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Use [row, column] indexing and standard matrix operators.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577840" cy="420624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367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5175503" cy="36393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 &lt;- matrix(1:9, nrow=3)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m[2, 3]       # row 2, column 3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m[1, ]        # first row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m[, 2]        # second column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m[1:2, 2:3]   # sub-matrix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37960" y="1600200"/>
          <a:ext cx="4800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 syntax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Element-wise multiply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 *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Multiply corresponding elements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Matrix multiply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 %*% 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Linear algebra product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Transpose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Swap rows and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Bind rows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rbind(A,B)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Stack by rows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Bind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cbind(A,B)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Join by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37960" y="534924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37960" y="5349240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5550407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771297"/>
            <a:ext cx="43891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Create a 2 × 3 matrix containing 10, 20, 30, 40, 50, 60 and print its second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Data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standard R structure for rectangular, tabular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Rows represent observations; columns represent variables.</a:t>
            </a:r>
          </a:p>
          <a:p>
            <a:pPr>
              <a:spcAft>
                <a:spcPts val="10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Columns can have different data types (numeric, character, logical, factor, etc.).</a:t>
            </a:r>
          </a:p>
          <a:p>
            <a:pPr>
              <a:spcAft>
                <a:spcPts val="10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All columns must have the same number of rows.</a:t>
            </a:r>
          </a:p>
          <a:p>
            <a:pPr>
              <a:spcAft>
                <a:spcPts val="1000"/>
              </a:spcAft>
              <a:defRPr sz="1700" b="0">
                <a:solidFill>
                  <a:srgbClr val="1E293B"/>
                </a:solidFill>
                <a:latin typeface="Aptos"/>
              </a:defRPr>
            </a:pPr>
            <a:r>
              <a:t>Data frames are the main structure you will meet in statistical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1480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6367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47672"/>
            <a:ext cx="4809744" cy="3547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students &lt;- data.frame(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name = c("Asha","Rafi","Nila"),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age  = c(21, 22, 20),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score = c(82, 74, 91)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students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Working with data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core operations you will use in almost every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10789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 code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3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Inspect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head(students)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First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str(students)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Types + structure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dim(students)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Rows and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students$score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Select one column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Row +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students[2,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Specific 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students[students$score &gt;= 80, 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Keep matching rows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Add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students$pass &lt;- students$score &gt;=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Create a 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715000"/>
            <a:ext cx="10789920" cy="658368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2980" y="6025896"/>
            <a:ext cx="10387584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students[students$score &gt;= 80, c("name","score")]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PROGRAMMING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Flow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Flow control determines which statements run, and how often they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if / 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Choose between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60020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80136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else 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585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Test multiple conditions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00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60020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80136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585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Repeat over a sequence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29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429000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63016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while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873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Repeat while a condition is TRUE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429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42900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363016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0873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Repeat until explicitly stopped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4290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42900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363016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break /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0873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Stop or skip an iteration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PROGRAMMING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if, else if,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Use multiple branches when more than one condition is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40080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4533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5998464" cy="43251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score &lt;- 76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if (score &gt;= 80)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grade &lt;- "A"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else if (score &gt;= 70)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grade &lt;- "B"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else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grade &lt;- "C or below"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print(grade)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645920"/>
            <a:ext cx="3977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06640" y="164592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847088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Execution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0428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 checks conditions from top to bottom. The first TRUE branch is executed.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337560"/>
            <a:ext cx="3977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6640" y="333756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3538728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99592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Keep conditions mutually clear and readable. Use braces for multi-line blocks.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5029200"/>
            <a:ext cx="397763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5029200"/>
            <a:ext cx="6400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5230368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4" y="5596128"/>
            <a:ext cx="356615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Modify the example to create grades A+, A, B, C, and 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PROGRAMMING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for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Repeat a block once for each value in a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937760" cy="420624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82495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1"/>
            <a:ext cx="4535424" cy="36393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for (i in 1:5) {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  print(i)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1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2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3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4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#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54480"/>
            <a:ext cx="5440680" cy="420624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0488" y="1682495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993391"/>
            <a:ext cx="5038344" cy="36393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scores &lt;- c(72, 85, 64)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for (s in scores)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if (s &gt;= 70) print("Pass")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else print("Needs improvement")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5852160"/>
            <a:ext cx="64008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5870448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rPr dirty="0"/>
              <a:t>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6149340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for (item in sequence) { statements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PROGRAMMING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while &amp;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Use while when the stopping condition is known; repeat when you want explicit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20640" cy="347472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4718303" cy="29077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i &lt;- 1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while (i &lt;= 5)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print(i)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i &lt;- i + 1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212080" cy="347472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6367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4809744" cy="29077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i &lt;- 1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repeat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print(i)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i &lt;- i + 1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if (i &gt; 5) break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5257800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458968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916168"/>
            <a:ext cx="10241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A while/repeat loop can become infinite if its stopping condition is never reached.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PROGRAMMING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break &amp;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Control what happens inside a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301752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82495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1"/>
            <a:ext cx="4718303" cy="24505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for (i in 1:5)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if (i == 3) next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print(i)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1 2 4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212080" cy="301752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682495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93391"/>
            <a:ext cx="4809744" cy="24505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for (i in 1:5)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if (i == 3) break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print(i)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1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92040"/>
            <a:ext cx="5120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892040"/>
            <a:ext cx="64008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093207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50407"/>
            <a:ext cx="470915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Skip the current iteration and continue the loop.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8920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4892040"/>
            <a:ext cx="6400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5093207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break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50407"/>
            <a:ext cx="4800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Stop the loop immediately.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Functions in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function packages instructions into a reusable unit.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400800" cy="310896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2821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5998464" cy="2542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function_name &lt;- function(argument1, argument2) {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  # statements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  result &lt;- argument1 + argument2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  return(result)</a:t>
            </a:r>
          </a:p>
          <a:p>
            <a:pPr>
              <a:spcAft>
                <a:spcPts val="200"/>
              </a:spcAft>
              <a:defRPr sz="15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600200"/>
            <a:ext cx="39776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64008" cy="18288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801368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Why functions?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58568"/>
            <a:ext cx="35661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• Reduce repeated code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• Improve readability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• Make analysis easier to test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• Accept different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703320"/>
            <a:ext cx="3977639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6640" y="3703320"/>
            <a:ext cx="64008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3904487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Core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361688"/>
            <a:ext cx="356615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function(arguments) { body }</a:t>
            </a:r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The body executes when the function is called.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Writing and calling a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Arguments make the same function useful for many inputs.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486400" cy="425196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82495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1"/>
            <a:ext cx="5084064" cy="3685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mean_two &lt;- function(x, y)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(x + y) / 2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mean_two(10, 20)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15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mean_two(7, 13)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80136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Implicit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58568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 automatically returns the value of the last evaluated expression.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29184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3291840"/>
            <a:ext cx="64008" cy="15087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349300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Explicit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50208"/>
            <a:ext cx="43434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return(value) is useful when you want to exit early or make the returned value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5074920"/>
            <a:ext cx="4754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37960" y="5074920"/>
            <a:ext cx="64008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6913" y="5133638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Default argument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495543"/>
            <a:ext cx="4343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power &lt;- function(x, p = 2) </a:t>
            </a:r>
            <a:r>
              <a:rPr dirty="0" err="1"/>
              <a:t>x</a:t>
            </a:r>
            <a:r>
              <a:rPr lang="en-US" dirty="0" err="1"/>
              <a:t>^</a:t>
            </a:r>
            <a:r>
              <a:rPr dirty="0" err="1"/>
              <a:t>p</a:t>
            </a:r>
            <a:endParaRPr dirty="0"/>
          </a:p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power(5) →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Arguments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Understanding local variables prevents unexpected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852160" cy="429768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82495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63EB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1"/>
            <a:ext cx="5449824" cy="3730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add_tax &lt;- function(price, rate = 0.05) {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tax &lt;- price * rate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price + tax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add_tax(100)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105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add_tax(100, 0.10)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# 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55448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03720" y="155448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1755648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Arguments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1284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Inputs supplied to a function. Defaults can be provided, e.g. rate = 0.05.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24612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324612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3447288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Local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904487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Variables created inside a function normally exist only inside that function.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93776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03720" y="4937760"/>
            <a:ext cx="64008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5138928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596128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Prefer passing values as arguments and returning results rather than relying on global variables.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Mini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Try these before moving to the next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01 • Logical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Write a condition that returns TRUE when x is between 50 and 100.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7556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02 •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128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Create a 3 × 3 matrix and print its second row.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7556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03 • Data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128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Create a data frame with name, age, and score; filter score ≥ 80.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5387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04 •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9592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Print the even numbers from 2 to 10 using a for loop.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33756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5387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05 •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99592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Write a function that takes x and returns x² + 2x + 1.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33756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353872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06 •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99592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Combine a function + condition to classify a score as Pass/Fail.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" y="5433688"/>
            <a:ext cx="1074420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25296" y="5426964"/>
            <a:ext cx="1034186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# Suggested workflow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# 1. Write the smallest working version.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# 2. Test with at least two inputs.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rPr dirty="0"/>
              <a:t># 3. Check the output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13A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six ideas from Day 02 form the foundation for practical R programming.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R Programming Workshop  •  Day 02                            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Logical operators let you build precise conditions from TRUE/FALSE values.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Lists store flexible, potentially mixed-type collections.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Matrices store homogeneous two-dimensional data and support matrix operations.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Data frames organize heterogeneous variables in rows and columns.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Flow control lets a program branch and repeat based on conditions.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1E293B"/>
                </a:solidFill>
                <a:latin typeface="Aptos"/>
              </a:defRPr>
            </a:pPr>
            <a:r>
              <a:t>Functions turn repeated logic into reusable, testable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376672"/>
            <a:ext cx="10561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5376672"/>
            <a:ext cx="64008" cy="8686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458968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13A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916168"/>
            <a:ext cx="1014984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Practice each structure in RStudio. Then use them together on a small dataset.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  <a:latin typeface="Aptos"/>
              </a:defRPr>
            </a:pPr>
            <a:r>
              <a:t>Bring your code, mistakes, and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2180</Words>
  <Application>Microsoft Office PowerPoint</Application>
  <PresentationFormat>Widescreen</PresentationFormat>
  <Paragraphs>423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Md Jakir Hossan Badol</cp:lastModifiedBy>
  <cp:revision>3</cp:revision>
  <dcterms:created xsi:type="dcterms:W3CDTF">2013-01-27T09:14:16Z</dcterms:created>
  <dcterms:modified xsi:type="dcterms:W3CDTF">2026-09-14T19:43:07Z</dcterms:modified>
  <cp:category/>
</cp:coreProperties>
</file>